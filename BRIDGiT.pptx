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orizon" charset="1" panose="02000500000000000000"/>
      <p:regular r:id="rId18"/>
    </p:embeddedFont>
    <p:embeddedFont>
      <p:font typeface="Poppins Bold" charset="1" panose="02000000000000000000"/>
      <p:regular r:id="rId19"/>
    </p:embeddedFont>
    <p:embeddedFont>
      <p:font typeface="Barlow" charset="1" panose="00000500000000000000"/>
      <p:regular r:id="rId20"/>
    </p:embeddedFont>
    <p:embeddedFont>
      <p:font typeface="Barlow Bold" charset="1" panose="00000800000000000000"/>
      <p:regular r:id="rId21"/>
    </p:embeddedFont>
    <p:embeddedFont>
      <p:font typeface="Barlow Semi-Bold" charset="1" panose="00000700000000000000"/>
      <p:regular r:id="rId22"/>
    </p:embeddedFon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45.jpeg" Type="http://schemas.openxmlformats.org/officeDocument/2006/relationships/image"/><Relationship Id="rId4" Target="../media/image46.jpeg" Type="http://schemas.openxmlformats.org/officeDocument/2006/relationships/image"/><Relationship Id="rId5" Target="../media/image47.jpeg" Type="http://schemas.openxmlformats.org/officeDocument/2006/relationships/image"/><Relationship Id="rId6" Target="../media/image4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6841" y="-144637"/>
            <a:ext cx="10786223" cy="10576274"/>
            <a:chOff x="0" y="0"/>
            <a:chExt cx="14381630" cy="14101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042815"/>
              <a:ext cx="12363028" cy="7058883"/>
            </a:xfrm>
            <a:custGeom>
              <a:avLst/>
              <a:gdLst/>
              <a:ahLst/>
              <a:cxnLst/>
              <a:rect r="r" b="b" t="t" l="l"/>
              <a:pathLst>
                <a:path h="7058883" w="12363028">
                  <a:moveTo>
                    <a:pt x="0" y="0"/>
                  </a:moveTo>
                  <a:lnTo>
                    <a:pt x="12363028" y="0"/>
                  </a:lnTo>
                  <a:lnTo>
                    <a:pt x="12363028" y="7058883"/>
                  </a:lnTo>
                  <a:lnTo>
                    <a:pt x="0" y="705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51576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18602" y="0"/>
              <a:ext cx="12363028" cy="7058883"/>
            </a:xfrm>
            <a:custGeom>
              <a:avLst/>
              <a:gdLst/>
              <a:ahLst/>
              <a:cxnLst/>
              <a:rect r="r" b="b" t="t" l="l"/>
              <a:pathLst>
                <a:path h="7058883" w="12363028">
                  <a:moveTo>
                    <a:pt x="0" y="0"/>
                  </a:moveTo>
                  <a:lnTo>
                    <a:pt x="12363028" y="0"/>
                  </a:lnTo>
                  <a:lnTo>
                    <a:pt x="12363028" y="7058883"/>
                  </a:lnTo>
                  <a:lnTo>
                    <a:pt x="0" y="705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51576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594603" y="2043583"/>
            <a:ext cx="4370572" cy="4370572"/>
          </a:xfrm>
          <a:custGeom>
            <a:avLst/>
            <a:gdLst/>
            <a:ahLst/>
            <a:cxnLst/>
            <a:rect r="r" b="b" t="t" l="l"/>
            <a:pathLst>
              <a:path h="4370572" w="4370572">
                <a:moveTo>
                  <a:pt x="0" y="0"/>
                </a:moveTo>
                <a:lnTo>
                  <a:pt x="4370572" y="0"/>
                </a:lnTo>
                <a:lnTo>
                  <a:pt x="4370572" y="4370572"/>
                </a:lnTo>
                <a:lnTo>
                  <a:pt x="0" y="4370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5035" y="6405720"/>
            <a:ext cx="9209708" cy="134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7"/>
              </a:lnSpc>
            </a:pPr>
            <a:r>
              <a:rPr lang="en-US" sz="7348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Bridgit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035" y="7828786"/>
            <a:ext cx="9209708" cy="4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49" spc="1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 Sharing Mobility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54807"/>
            <a:ext cx="1093569" cy="1093569"/>
          </a:xfrm>
          <a:custGeom>
            <a:avLst/>
            <a:gdLst/>
            <a:ahLst/>
            <a:cxnLst/>
            <a:rect r="r" b="b" t="t" l="l"/>
            <a:pathLst>
              <a:path h="1093569" w="1093569">
                <a:moveTo>
                  <a:pt x="0" y="0"/>
                </a:moveTo>
                <a:lnTo>
                  <a:pt x="1093569" y="0"/>
                </a:lnTo>
                <a:lnTo>
                  <a:pt x="1093569" y="1093569"/>
                </a:lnTo>
                <a:lnTo>
                  <a:pt x="0" y="1093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31008" y="5107004"/>
            <a:ext cx="1196732" cy="1196732"/>
          </a:xfrm>
          <a:custGeom>
            <a:avLst/>
            <a:gdLst/>
            <a:ahLst/>
            <a:cxnLst/>
            <a:rect r="r" b="b" t="t" l="l"/>
            <a:pathLst>
              <a:path h="1196732" w="1196732">
                <a:moveTo>
                  <a:pt x="0" y="0"/>
                </a:moveTo>
                <a:lnTo>
                  <a:pt x="1196732" y="0"/>
                </a:lnTo>
                <a:lnTo>
                  <a:pt x="1196732" y="1196732"/>
                </a:lnTo>
                <a:lnTo>
                  <a:pt x="0" y="119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552" y="7717830"/>
            <a:ext cx="1275864" cy="1268905"/>
          </a:xfrm>
          <a:custGeom>
            <a:avLst/>
            <a:gdLst/>
            <a:ahLst/>
            <a:cxnLst/>
            <a:rect r="r" b="b" t="t" l="l"/>
            <a:pathLst>
              <a:path h="1268905" w="1275864">
                <a:moveTo>
                  <a:pt x="0" y="0"/>
                </a:moveTo>
                <a:lnTo>
                  <a:pt x="1275864" y="0"/>
                </a:lnTo>
                <a:lnTo>
                  <a:pt x="1275864" y="1268905"/>
                </a:lnTo>
                <a:lnTo>
                  <a:pt x="0" y="1268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050299">
            <a:off x="10448847" y="2414262"/>
            <a:ext cx="1410843" cy="2666542"/>
          </a:xfrm>
          <a:custGeom>
            <a:avLst/>
            <a:gdLst/>
            <a:ahLst/>
            <a:cxnLst/>
            <a:rect r="r" b="b" t="t" l="l"/>
            <a:pathLst>
              <a:path h="2666542" w="1410843">
                <a:moveTo>
                  <a:pt x="0" y="0"/>
                </a:moveTo>
                <a:lnTo>
                  <a:pt x="1410843" y="0"/>
                </a:lnTo>
                <a:lnTo>
                  <a:pt x="1410843" y="2666542"/>
                </a:lnTo>
                <a:lnTo>
                  <a:pt x="0" y="26665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30633" y="2276700"/>
            <a:ext cx="7469376" cy="3667301"/>
            <a:chOff x="0" y="0"/>
            <a:chExt cx="9959169" cy="488973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4223071"/>
              <a:ext cx="9959169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9959169" cy="3746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3"/>
                </a:lnSpc>
              </a:pP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Il settore dei trasporti rappresenta in media il 25% delle cause di </a:t>
              </a:r>
              <a:r>
                <a:rPr lang="en-US" sz="3702" b="true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emissioni di CO2</a:t>
              </a: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 e altri gas serra, nelle </a:t>
              </a:r>
              <a:r>
                <a:rPr lang="en-US" sz="3702" b="true">
                  <a:solidFill>
                    <a:srgbClr val="A6A19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grandi città</a:t>
              </a:r>
              <a:r>
                <a:rPr lang="en-US" sz="3702">
                  <a:solidFill>
                    <a:srgbClr val="DADAD9"/>
                  </a:solidFill>
                  <a:latin typeface="Barlow"/>
                  <a:ea typeface="Barlow"/>
                  <a:cs typeface="Barlow"/>
                  <a:sym typeface="Barlow"/>
                </a:rPr>
                <a:t> </a:t>
              </a: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può arrivare al </a:t>
              </a:r>
              <a:r>
                <a:rPr lang="en-US" sz="3702" b="true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35</a:t>
              </a: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%.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62050" y="283793"/>
            <a:ext cx="6532311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b="true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Il 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6451" y="5354106"/>
            <a:ext cx="7469376" cy="51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3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184522" y="4899457"/>
            <a:ext cx="7469376" cy="2543351"/>
            <a:chOff x="0" y="0"/>
            <a:chExt cx="9959169" cy="339113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2724471"/>
              <a:ext cx="9959169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0"/>
              <a:ext cx="9959169" cy="2247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3"/>
                </a:lnSpc>
              </a:pP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Circa il 33% degli abitanti delle grandi città effettua spostamenti quotidiani per motivi di </a:t>
              </a:r>
              <a:r>
                <a:rPr lang="en-US" sz="3702" b="true">
                  <a:solidFill>
                    <a:srgbClr val="A6A19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lavoro</a:t>
              </a: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30633" y="7642582"/>
            <a:ext cx="7469376" cy="1419401"/>
            <a:chOff x="0" y="0"/>
            <a:chExt cx="9959169" cy="189253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225871"/>
              <a:ext cx="9959169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0"/>
              <a:ext cx="9959169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30633" y="7442808"/>
            <a:ext cx="7782568" cy="3105326"/>
            <a:chOff x="0" y="0"/>
            <a:chExt cx="10376758" cy="414043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3473771"/>
              <a:ext cx="10376758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0"/>
              <a:ext cx="10376758" cy="299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3"/>
                </a:lnSpc>
              </a:pP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Solo poche aziende si occupano di</a:t>
              </a:r>
              <a:r>
                <a:rPr lang="en-US" sz="3702" b="true">
                  <a:solidFill>
                    <a:srgbClr val="A6A19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ottimizzare gli spostamenti</a:t>
              </a:r>
              <a:r>
                <a:rPr lang="en-US" sz="3702">
                  <a:solidFill>
                    <a:srgbClr val="A6A19D"/>
                  </a:solidFill>
                  <a:latin typeface="Barlow"/>
                  <a:ea typeface="Barlow"/>
                  <a:cs typeface="Barlow"/>
                  <a:sym typeface="Barlow"/>
                </a:rPr>
                <a:t> </a:t>
              </a: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dei propri dipendenti in termini di</a:t>
              </a:r>
              <a:r>
                <a:rPr lang="en-US" sz="3702" b="true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risparmio economico e di emissioni</a:t>
              </a:r>
              <a:r>
                <a:rPr lang="en-US" sz="370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1659290">
            <a:off x="10765743" y="6657636"/>
            <a:ext cx="1410843" cy="2666542"/>
          </a:xfrm>
          <a:custGeom>
            <a:avLst/>
            <a:gdLst/>
            <a:ahLst/>
            <a:cxnLst/>
            <a:rect r="r" b="b" t="t" l="l"/>
            <a:pathLst>
              <a:path h="2666542" w="1410843">
                <a:moveTo>
                  <a:pt x="0" y="0"/>
                </a:moveTo>
                <a:lnTo>
                  <a:pt x="1410844" y="0"/>
                </a:lnTo>
                <a:lnTo>
                  <a:pt x="1410844" y="2666542"/>
                </a:lnTo>
                <a:lnTo>
                  <a:pt x="0" y="26665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2050" y="2223673"/>
            <a:ext cx="689811" cy="780651"/>
          </a:xfrm>
          <a:custGeom>
            <a:avLst/>
            <a:gdLst/>
            <a:ahLst/>
            <a:cxnLst/>
            <a:rect r="r" b="b" t="t" l="l"/>
            <a:pathLst>
              <a:path h="780651" w="689811">
                <a:moveTo>
                  <a:pt x="0" y="0"/>
                </a:moveTo>
                <a:lnTo>
                  <a:pt x="689811" y="0"/>
                </a:lnTo>
                <a:lnTo>
                  <a:pt x="689811" y="780651"/>
                </a:lnTo>
                <a:lnTo>
                  <a:pt x="0" y="780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0633" y="2171925"/>
            <a:ext cx="15176704" cy="1981376"/>
            <a:chOff x="0" y="0"/>
            <a:chExt cx="20235605" cy="26418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75171"/>
              <a:ext cx="20235605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0"/>
              <a:ext cx="20235605" cy="149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3"/>
                </a:lnSpc>
              </a:pPr>
              <a:r>
                <a:rPr lang="en-US" sz="3702" b="true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La mobilità aziendale è regolata da  importanti decreti, in particolare il decreto Rilancio 2020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25970" y="3972194"/>
            <a:ext cx="10836060" cy="4706259"/>
            <a:chOff x="0" y="0"/>
            <a:chExt cx="14448080" cy="6275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599498" y="1377263"/>
              <a:ext cx="2686086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99498" y="87892"/>
              <a:ext cx="2686086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3"/>
                </a:lnSpc>
              </a:pPr>
              <a:r>
                <a:rPr lang="en-US" sz="4002" b="true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AZIENDE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1371600"/>
              <a:ext cx="1234919" cy="785858"/>
            </a:xfrm>
            <a:custGeom>
              <a:avLst/>
              <a:gdLst/>
              <a:ahLst/>
              <a:cxnLst/>
              <a:rect r="r" b="b" t="t" l="l"/>
              <a:pathLst>
                <a:path h="785858" w="1234919">
                  <a:moveTo>
                    <a:pt x="0" y="0"/>
                  </a:moveTo>
                  <a:lnTo>
                    <a:pt x="1234919" y="0"/>
                  </a:lnTo>
                  <a:lnTo>
                    <a:pt x="1234919" y="785858"/>
                  </a:lnTo>
                  <a:lnTo>
                    <a:pt x="0" y="785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46788" y="2771252"/>
              <a:ext cx="705419" cy="1007741"/>
            </a:xfrm>
            <a:custGeom>
              <a:avLst/>
              <a:gdLst/>
              <a:ahLst/>
              <a:cxnLst/>
              <a:rect r="r" b="b" t="t" l="l"/>
              <a:pathLst>
                <a:path h="1007741" w="705419">
                  <a:moveTo>
                    <a:pt x="0" y="0"/>
                  </a:moveTo>
                  <a:lnTo>
                    <a:pt x="705419" y="0"/>
                  </a:lnTo>
                  <a:lnTo>
                    <a:pt x="705419" y="1007741"/>
                  </a:lnTo>
                  <a:lnTo>
                    <a:pt x="0" y="1007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1" id="11"/>
            <p:cNvSpPr/>
            <p:nvPr/>
          </p:nvSpPr>
          <p:spPr>
            <a:xfrm flipV="true">
              <a:off x="5896128" y="2449505"/>
              <a:ext cx="4030716" cy="25400"/>
            </a:xfrm>
            <a:prstGeom prst="line">
              <a:avLst/>
            </a:prstGeom>
            <a:ln cap="flat" w="53372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191281" y="0"/>
              <a:ext cx="2112264" cy="2743200"/>
            </a:xfrm>
            <a:custGeom>
              <a:avLst/>
              <a:gdLst/>
              <a:ahLst/>
              <a:cxnLst/>
              <a:rect r="r" b="b" t="t" l="l"/>
              <a:pathLst>
                <a:path h="2743200" w="2112264">
                  <a:moveTo>
                    <a:pt x="0" y="0"/>
                  </a:moveTo>
                  <a:lnTo>
                    <a:pt x="2112264" y="0"/>
                  </a:lnTo>
                  <a:lnTo>
                    <a:pt x="2112264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058869" y="5589212"/>
              <a:ext cx="4839277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058869" y="4573212"/>
              <a:ext cx="4839277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29348" y="2608459"/>
              <a:ext cx="3521264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29348" y="1623888"/>
              <a:ext cx="3521264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3"/>
                </a:lnSpc>
              </a:pPr>
              <a:r>
                <a:rPr lang="en-US" sz="2503" b="true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100+ DIPENDENTI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27303" y="4654098"/>
              <a:ext cx="5063132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27303" y="2653527"/>
              <a:ext cx="5063132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3"/>
                </a:lnSpc>
              </a:pPr>
              <a:r>
                <a:rPr lang="en-US" sz="2503" b="true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CON SEDE IN CENTRI URBANI CON ALMENO 50.000 ABITANTI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895968" y="1052505"/>
              <a:ext cx="403103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pc="12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SONO OBBLIGATE A REDIGERE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046745" y="5569697"/>
              <a:ext cx="4401334" cy="600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046745" y="2975936"/>
              <a:ext cx="4401334" cy="2174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4"/>
                </a:lnSpc>
              </a:pPr>
              <a:r>
                <a:rPr lang="en-US" b="true" sz="3570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PIANO SPOSTAMENTI CASA-LAVORO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33454" y="8236033"/>
            <a:ext cx="13621091" cy="2044535"/>
            <a:chOff x="0" y="0"/>
            <a:chExt cx="18161455" cy="272604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3547243" y="2059383"/>
              <a:ext cx="14614211" cy="666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3"/>
                </a:lnSpc>
                <a:spcBef>
                  <a:spcPct val="0"/>
                </a:spcBef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547243" y="84212"/>
              <a:ext cx="14614211" cy="149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3"/>
                </a:lnSpc>
              </a:pPr>
              <a:r>
                <a:rPr lang="en-US" sz="3702" b="true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Difficoltà per le aziende nell’implementare un sistema di mobilità sostenibile per i suoi dipendenti.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34744" cy="1562893"/>
            </a:xfrm>
            <a:custGeom>
              <a:avLst/>
              <a:gdLst/>
              <a:ahLst/>
              <a:cxnLst/>
              <a:rect r="r" b="b" t="t" l="l"/>
              <a:pathLst>
                <a:path h="1562893" w="3034744">
                  <a:moveTo>
                    <a:pt x="0" y="0"/>
                  </a:moveTo>
                  <a:lnTo>
                    <a:pt x="3034744" y="0"/>
                  </a:lnTo>
                  <a:lnTo>
                    <a:pt x="3034744" y="1562893"/>
                  </a:lnTo>
                  <a:lnTo>
                    <a:pt x="0" y="1562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62050" y="283793"/>
            <a:ext cx="6532311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b="true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Il contesto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54881" y="4100184"/>
            <a:ext cx="6674390" cy="4447855"/>
          </a:xfrm>
          <a:custGeom>
            <a:avLst/>
            <a:gdLst/>
            <a:ahLst/>
            <a:cxnLst/>
            <a:rect r="r" b="b" t="t" l="l"/>
            <a:pathLst>
              <a:path h="4447855" w="6674390">
                <a:moveTo>
                  <a:pt x="0" y="0"/>
                </a:moveTo>
                <a:lnTo>
                  <a:pt x="6674390" y="0"/>
                </a:lnTo>
                <a:lnTo>
                  <a:pt x="6674390" y="4447855"/>
                </a:lnTo>
                <a:lnTo>
                  <a:pt x="0" y="4447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14425"/>
            <a:ext cx="5689518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b="true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Soluzione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304838" y="737800"/>
            <a:ext cx="4150043" cy="2099450"/>
            <a:chOff x="0" y="0"/>
            <a:chExt cx="5533391" cy="27992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55687" y="0"/>
              <a:ext cx="1622016" cy="1622016"/>
            </a:xfrm>
            <a:custGeom>
              <a:avLst/>
              <a:gdLst/>
              <a:ahLst/>
              <a:cxnLst/>
              <a:rect r="r" b="b" t="t" l="l"/>
              <a:pathLst>
                <a:path h="1622016" w="1622016">
                  <a:moveTo>
                    <a:pt x="0" y="0"/>
                  </a:moveTo>
                  <a:lnTo>
                    <a:pt x="1622016" y="0"/>
                  </a:lnTo>
                  <a:lnTo>
                    <a:pt x="1622016" y="1622016"/>
                  </a:lnTo>
                  <a:lnTo>
                    <a:pt x="0" y="162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1718187"/>
              <a:ext cx="5533391" cy="782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35"/>
                </a:lnSpc>
              </a:pPr>
              <a:r>
                <a:rPr lang="en-US" sz="3311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Bridgit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550187"/>
              <a:ext cx="5533391" cy="249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08"/>
                </a:lnSpc>
              </a:pPr>
              <a:r>
                <a:rPr lang="en-US" sz="1148" spc="51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Optimize Sharing Mobility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916354"/>
            <a:ext cx="8679216" cy="521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110" indent="-353555" lvl="1">
              <a:lnSpc>
                <a:spcPts val="4585"/>
              </a:lnSpc>
              <a:buFont typeface="Arial"/>
              <a:buChar char="•"/>
            </a:pPr>
            <a:r>
              <a:rPr lang="en-US" sz="3275" spc="13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Redazione di piani di </a:t>
            </a:r>
            <a:r>
              <a:rPr lang="en-US" b="true" sz="3275" spc="13">
                <a:solidFill>
                  <a:srgbClr val="999490"/>
                </a:solidFill>
                <a:latin typeface="Barlow Bold"/>
                <a:ea typeface="Barlow Bold"/>
                <a:cs typeface="Barlow Bold"/>
                <a:sym typeface="Barlow Bold"/>
              </a:rPr>
              <a:t>Mobility Management</a:t>
            </a:r>
          </a:p>
          <a:p>
            <a:pPr algn="l">
              <a:lnSpc>
                <a:spcPts val="4585"/>
              </a:lnSpc>
            </a:pPr>
          </a:p>
          <a:p>
            <a:pPr algn="l" marL="707110" indent="-353555" lvl="1">
              <a:lnSpc>
                <a:spcPts val="4585"/>
              </a:lnSpc>
              <a:buFont typeface="Arial"/>
              <a:buChar char="•"/>
            </a:pPr>
            <a:r>
              <a:rPr lang="en-US" sz="3275" spc="1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Uso di algoritmi di</a:t>
            </a:r>
            <a:r>
              <a:rPr lang="en-US" b="true" sz="3275" spc="13">
                <a:solidFill>
                  <a:srgbClr val="795741"/>
                </a:solidFill>
                <a:latin typeface="Barlow Bold"/>
                <a:ea typeface="Barlow Bold"/>
                <a:cs typeface="Barlow Bold"/>
                <a:sym typeface="Barlow Bold"/>
              </a:rPr>
              <a:t> Graph Theory </a:t>
            </a:r>
            <a:r>
              <a:rPr lang="en-US" sz="3275" spc="1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and </a:t>
            </a:r>
            <a:r>
              <a:rPr lang="en-US" b="true" sz="3275" spc="13">
                <a:solidFill>
                  <a:srgbClr val="795741"/>
                </a:solidFill>
                <a:latin typeface="Barlow Bold"/>
                <a:ea typeface="Barlow Bold"/>
                <a:cs typeface="Barlow Bold"/>
                <a:sym typeface="Barlow Bold"/>
              </a:rPr>
              <a:t>AI</a:t>
            </a:r>
            <a:r>
              <a:rPr lang="en-US" sz="3275" spc="1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4585"/>
              </a:lnSpc>
            </a:pPr>
          </a:p>
          <a:p>
            <a:pPr algn="l" marL="707110" indent="-353555" lvl="1">
              <a:lnSpc>
                <a:spcPts val="4585"/>
              </a:lnSpc>
              <a:buFont typeface="Arial"/>
              <a:buChar char="•"/>
            </a:pPr>
            <a:r>
              <a:rPr lang="en-US" sz="3275" spc="1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Combinazione tra l’utilizzo di mezzi di trasporto personali attraverso piani di </a:t>
            </a:r>
            <a:r>
              <a:rPr lang="en-US" b="true" sz="3275" spc="13">
                <a:solidFill>
                  <a:srgbClr val="795741"/>
                </a:solidFill>
                <a:latin typeface="Barlow Bold"/>
                <a:ea typeface="Barlow Bold"/>
                <a:cs typeface="Barlow Bold"/>
                <a:sym typeface="Barlow Bold"/>
              </a:rPr>
              <a:t>Mobilità Condivisa </a:t>
            </a:r>
            <a:r>
              <a:rPr lang="en-US" sz="3275" spc="1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(car-sharing e trasporto pubblico) e alternative elettriche a basso impatto (monopattini, e-bike).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45284" y="981075"/>
            <a:ext cx="6293584" cy="238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708" spc="10">
                <a:solidFill>
                  <a:srgbClr val="6C4B35"/>
                </a:solidFill>
                <a:latin typeface="Barlow Bold"/>
                <a:ea typeface="Barlow Bold"/>
                <a:cs typeface="Barlow Bold"/>
                <a:sym typeface="Barlow Bold"/>
              </a:rPr>
              <a:t>MOBILITY MANAGEMENT</a:t>
            </a:r>
          </a:p>
          <a:p>
            <a:pPr algn="ctr">
              <a:lnSpc>
                <a:spcPts val="3792"/>
              </a:lnSpc>
              <a:spcBef>
                <a:spcPct val="0"/>
              </a:spcBef>
            </a:pPr>
            <a:r>
              <a:rPr lang="en-US" sz="2708" spc="1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L’insieme delle iniziative aziendali mirate alla gestione degli spostamenti casa-lavoro e lavoro-lavoro del personale dipendente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43656" y="3505494"/>
            <a:ext cx="6324728" cy="4269191"/>
          </a:xfrm>
          <a:custGeom>
            <a:avLst/>
            <a:gdLst/>
            <a:ahLst/>
            <a:cxnLst/>
            <a:rect r="r" b="b" t="t" l="l"/>
            <a:pathLst>
              <a:path h="4269191" w="6324728">
                <a:moveTo>
                  <a:pt x="0" y="0"/>
                </a:moveTo>
                <a:lnTo>
                  <a:pt x="6324728" y="0"/>
                </a:lnTo>
                <a:lnTo>
                  <a:pt x="6324728" y="4269192"/>
                </a:lnTo>
                <a:lnTo>
                  <a:pt x="0" y="4269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64859" y="2971800"/>
            <a:ext cx="7460734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Integrazione di spostamenti di dipendenti di </a:t>
            </a:r>
            <a:r>
              <a:rPr lang="en-US" sz="3000" spc="12" b="true">
                <a:solidFill>
                  <a:srgbClr val="795741"/>
                </a:solidFill>
                <a:latin typeface="Barlow Bold"/>
                <a:ea typeface="Barlow Bold"/>
                <a:cs typeface="Barlow Bold"/>
                <a:sym typeface="Barlow Bold"/>
              </a:rPr>
              <a:t>Diverse Aziende:</a:t>
            </a:r>
            <a:r>
              <a:rPr lang="en-US" sz="3000" spc="1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i dati degli spostamenti del personale dipendente vengono acquisiti, confrontati e integrati per produrre piani più</a:t>
            </a:r>
            <a:r>
              <a:rPr lang="en-US" sz="3000" spc="12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efficienti</a:t>
            </a:r>
            <a:r>
              <a:rPr lang="en-US" sz="3000" spc="1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e </a:t>
            </a:r>
            <a:r>
              <a:rPr lang="en-US" sz="3000" spc="12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sostenibili</a:t>
            </a:r>
            <a:r>
              <a:rPr lang="en-US" sz="3000" spc="1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64859" y="6353175"/>
            <a:ext cx="7460734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Tracciamento degli spostamenti</a:t>
            </a: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 spc="12" b="true">
                <a:solidFill>
                  <a:srgbClr val="999490"/>
                </a:solidFill>
                <a:latin typeface="Barlow Bold"/>
                <a:ea typeface="Barlow Bold"/>
                <a:cs typeface="Barlow Bold"/>
                <a:sym typeface="Barlow Bold"/>
              </a:rPr>
              <a:t>Real-Time: </a:t>
            </a:r>
            <a:r>
              <a:rPr lang="en-US" sz="3000" spc="1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identificare la posizione e gli spostamenti di qualsiasi oggetto o persona in modo tale da avere un feedback in tempo reale del minor consumo di CO2.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3048000"/>
            <a:ext cx="963731" cy="551955"/>
          </a:xfrm>
          <a:custGeom>
            <a:avLst/>
            <a:gdLst/>
            <a:ahLst/>
            <a:cxnLst/>
            <a:rect r="r" b="b" t="t" l="l"/>
            <a:pathLst>
              <a:path h="551955" w="963731">
                <a:moveTo>
                  <a:pt x="0" y="0"/>
                </a:moveTo>
                <a:lnTo>
                  <a:pt x="963731" y="0"/>
                </a:lnTo>
                <a:lnTo>
                  <a:pt x="963731" y="551955"/>
                </a:lnTo>
                <a:lnTo>
                  <a:pt x="0" y="5519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429375"/>
            <a:ext cx="963731" cy="551955"/>
          </a:xfrm>
          <a:custGeom>
            <a:avLst/>
            <a:gdLst/>
            <a:ahLst/>
            <a:cxnLst/>
            <a:rect r="r" b="b" t="t" l="l"/>
            <a:pathLst>
              <a:path h="551955" w="963731">
                <a:moveTo>
                  <a:pt x="0" y="0"/>
                </a:moveTo>
                <a:lnTo>
                  <a:pt x="963731" y="0"/>
                </a:lnTo>
                <a:lnTo>
                  <a:pt x="963731" y="551955"/>
                </a:lnTo>
                <a:lnTo>
                  <a:pt x="0" y="5519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14425"/>
            <a:ext cx="11156237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b="true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... e un passo in più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714627" y="863453"/>
            <a:ext cx="3653280" cy="1848144"/>
            <a:chOff x="0" y="0"/>
            <a:chExt cx="4871040" cy="2464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721590" y="0"/>
              <a:ext cx="1427860" cy="1427860"/>
            </a:xfrm>
            <a:custGeom>
              <a:avLst/>
              <a:gdLst/>
              <a:ahLst/>
              <a:cxnLst/>
              <a:rect r="r" b="b" t="t" l="l"/>
              <a:pathLst>
                <a:path h="1427860" w="1427860">
                  <a:moveTo>
                    <a:pt x="0" y="0"/>
                  </a:moveTo>
                  <a:lnTo>
                    <a:pt x="1427860" y="0"/>
                  </a:lnTo>
                  <a:lnTo>
                    <a:pt x="1427860" y="1427860"/>
                  </a:lnTo>
                  <a:lnTo>
                    <a:pt x="0" y="1427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517887"/>
              <a:ext cx="4871040" cy="683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2914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Bridgit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51032"/>
              <a:ext cx="4871040" cy="213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16"/>
                </a:lnSpc>
              </a:pPr>
              <a:r>
                <a:rPr lang="en-US" sz="1011" spc="45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Optimize Sharing Mobility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84603" y="1775542"/>
            <a:ext cx="6280690" cy="12763931"/>
            <a:chOff x="0" y="0"/>
            <a:chExt cx="5001260" cy="10163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solidFill>
              <a:srgbClr val="EFF6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652613" y="3107767"/>
            <a:ext cx="8908796" cy="4589937"/>
            <a:chOff x="0" y="0"/>
            <a:chExt cx="11878394" cy="611991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5250"/>
              <a:ext cx="8949957" cy="3916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81"/>
                </a:lnSpc>
              </a:pPr>
              <a:r>
                <a:rPr lang="en-US" sz="10346" b="true">
                  <a:solidFill>
                    <a:srgbClr val="F6F6F5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Caso studio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432023"/>
              <a:ext cx="8949957" cy="687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45"/>
                </a:lnSpc>
              </a:pPr>
            </a:p>
          </p:txBody>
        </p:sp>
        <p:sp>
          <p:nvSpPr>
            <p:cNvPr name="AutoShape 8" id="8"/>
            <p:cNvSpPr/>
            <p:nvPr/>
          </p:nvSpPr>
          <p:spPr>
            <a:xfrm flipH="true">
              <a:off x="0" y="4750700"/>
              <a:ext cx="11878394" cy="0"/>
            </a:xfrm>
            <a:prstGeom prst="line">
              <a:avLst/>
            </a:prstGeom>
            <a:ln cap="rnd" w="39421">
              <a:solidFill>
                <a:srgbClr val="F6F6F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736634" y="4341127"/>
            <a:ext cx="3976627" cy="2677004"/>
            <a:chOff x="0" y="0"/>
            <a:chExt cx="5302170" cy="35693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392982" y="0"/>
              <a:ext cx="2516205" cy="2516205"/>
            </a:xfrm>
            <a:custGeom>
              <a:avLst/>
              <a:gdLst/>
              <a:ahLst/>
              <a:cxnLst/>
              <a:rect r="r" b="b" t="t" l="l"/>
              <a:pathLst>
                <a:path h="2516205" w="2516205">
                  <a:moveTo>
                    <a:pt x="0" y="0"/>
                  </a:moveTo>
                  <a:lnTo>
                    <a:pt x="2516205" y="0"/>
                  </a:lnTo>
                  <a:lnTo>
                    <a:pt x="2516205" y="2516205"/>
                  </a:lnTo>
                  <a:lnTo>
                    <a:pt x="0" y="2516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2538182"/>
              <a:ext cx="5302170" cy="745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42"/>
                </a:lnSpc>
              </a:pPr>
              <a:r>
                <a:rPr lang="en-US" sz="3172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Bridgit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338998"/>
              <a:ext cx="5302170" cy="230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1"/>
                </a:lnSpc>
              </a:pPr>
              <a:r>
                <a:rPr lang="en-US" sz="1100" spc="49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Optimize Sharing Mobility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7913" y="1644114"/>
            <a:ext cx="882579" cy="852090"/>
          </a:xfrm>
          <a:custGeom>
            <a:avLst/>
            <a:gdLst/>
            <a:ahLst/>
            <a:cxnLst/>
            <a:rect r="r" b="b" t="t" l="l"/>
            <a:pathLst>
              <a:path h="852090" w="882579">
                <a:moveTo>
                  <a:pt x="0" y="0"/>
                </a:moveTo>
                <a:lnTo>
                  <a:pt x="882579" y="0"/>
                </a:lnTo>
                <a:lnTo>
                  <a:pt x="882579" y="852090"/>
                </a:lnTo>
                <a:lnTo>
                  <a:pt x="0" y="85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7913" y="5462745"/>
            <a:ext cx="882579" cy="852090"/>
          </a:xfrm>
          <a:custGeom>
            <a:avLst/>
            <a:gdLst/>
            <a:ahLst/>
            <a:cxnLst/>
            <a:rect r="r" b="b" t="t" l="l"/>
            <a:pathLst>
              <a:path h="852090" w="882579">
                <a:moveTo>
                  <a:pt x="0" y="0"/>
                </a:moveTo>
                <a:lnTo>
                  <a:pt x="882579" y="0"/>
                </a:lnTo>
                <a:lnTo>
                  <a:pt x="882579" y="852091"/>
                </a:lnTo>
                <a:lnTo>
                  <a:pt x="0" y="85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5525" y="2820054"/>
            <a:ext cx="987354" cy="987354"/>
          </a:xfrm>
          <a:custGeom>
            <a:avLst/>
            <a:gdLst/>
            <a:ahLst/>
            <a:cxnLst/>
            <a:rect r="r" b="b" t="t" l="l"/>
            <a:pathLst>
              <a:path h="987354" w="987354">
                <a:moveTo>
                  <a:pt x="0" y="0"/>
                </a:moveTo>
                <a:lnTo>
                  <a:pt x="987354" y="0"/>
                </a:lnTo>
                <a:lnTo>
                  <a:pt x="987354" y="987354"/>
                </a:lnTo>
                <a:lnTo>
                  <a:pt x="0" y="9873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7913" y="341544"/>
            <a:ext cx="4777896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Azienda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6473" y="1943754"/>
            <a:ext cx="477789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2 SEDI AZIENDALI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50 DIPENDENTI PER SEDE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913" y="4070086"/>
            <a:ext cx="4777896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Azienda 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5267" y="5386545"/>
            <a:ext cx="4777896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1 SEDE (COINCIDENTE CON UNA DELLE DUE DELL’AZIENDA A)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100 DIPENDENTI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95858" y="1897450"/>
            <a:ext cx="9563442" cy="88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SCENARIO 1: NESSUN UTILIZZO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45525" y="7207443"/>
            <a:ext cx="987354" cy="987354"/>
          </a:xfrm>
          <a:custGeom>
            <a:avLst/>
            <a:gdLst/>
            <a:ahLst/>
            <a:cxnLst/>
            <a:rect r="r" b="b" t="t" l="l"/>
            <a:pathLst>
              <a:path h="987354" w="987354">
                <a:moveTo>
                  <a:pt x="0" y="0"/>
                </a:moveTo>
                <a:lnTo>
                  <a:pt x="987354" y="0"/>
                </a:lnTo>
                <a:lnTo>
                  <a:pt x="987354" y="987355"/>
                </a:lnTo>
                <a:lnTo>
                  <a:pt x="0" y="987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37664" y="3728403"/>
            <a:ext cx="9279830" cy="181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SCENARIO 2: UTILIZZO AZIENDALE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95858" y="6483281"/>
            <a:ext cx="9563442" cy="181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SCENARIO 3: UTILIZZO AZIENDALE INTEGRATO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2850" y="4731118"/>
            <a:ext cx="95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004423"/>
            <a:ext cx="16384757" cy="7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Come cambiano i costi e le emissioni tra i casi distinti?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2439479" y="2834755"/>
            <a:ext cx="0" cy="865071"/>
          </a:xfrm>
          <a:prstGeom prst="line">
            <a:avLst/>
          </a:prstGeom>
          <a:ln cap="rnd" w="76200">
            <a:solidFill>
              <a:srgbClr val="19191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2363279" y="5713460"/>
            <a:ext cx="0" cy="865071"/>
          </a:xfrm>
          <a:prstGeom prst="line">
            <a:avLst/>
          </a:prstGeom>
          <a:ln cap="rnd" w="76200">
            <a:solidFill>
              <a:srgbClr val="19191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6485887" y="6804808"/>
            <a:ext cx="1263215" cy="1263215"/>
          </a:xfrm>
          <a:custGeom>
            <a:avLst/>
            <a:gdLst/>
            <a:ahLst/>
            <a:cxnLst/>
            <a:rect r="r" b="b" t="t" l="l"/>
            <a:pathLst>
              <a:path h="1263215" w="1263215">
                <a:moveTo>
                  <a:pt x="0" y="0"/>
                </a:moveTo>
                <a:lnTo>
                  <a:pt x="1263214" y="0"/>
                </a:lnTo>
                <a:lnTo>
                  <a:pt x="1263214" y="1263215"/>
                </a:lnTo>
                <a:lnTo>
                  <a:pt x="0" y="1263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08400" y="2120970"/>
            <a:ext cx="656257" cy="634928"/>
          </a:xfrm>
          <a:custGeom>
            <a:avLst/>
            <a:gdLst/>
            <a:ahLst/>
            <a:cxnLst/>
            <a:rect r="r" b="b" t="t" l="l"/>
            <a:pathLst>
              <a:path h="634928" w="656257">
                <a:moveTo>
                  <a:pt x="0" y="0"/>
                </a:moveTo>
                <a:lnTo>
                  <a:pt x="656257" y="0"/>
                </a:lnTo>
                <a:lnTo>
                  <a:pt x="656257" y="634929"/>
                </a:lnTo>
                <a:lnTo>
                  <a:pt x="0" y="63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772" y="1615265"/>
            <a:ext cx="1682829" cy="75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  <a:spcBef>
                <a:spcPct val="0"/>
              </a:spcBef>
            </a:pPr>
            <a:r>
              <a:rPr lang="en-US" b="true" sz="4371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CASO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5774" y="4610734"/>
            <a:ext cx="173462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CASO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9772" y="7594072"/>
            <a:ext cx="172402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CASO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590" y="6009327"/>
            <a:ext cx="7196" cy="33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263997" y="267441"/>
            <a:ext cx="2819995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Azienda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32628" y="250492"/>
            <a:ext cx="2787253" cy="86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Azienda 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97603" y="2158717"/>
            <a:ext cx="237196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CO2 emessa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6919" y="3012983"/>
            <a:ext cx="98131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3687" y="5209816"/>
            <a:ext cx="237196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CO2 emessa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94337" y="6013082"/>
            <a:ext cx="98131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56269" y="8172875"/>
            <a:ext cx="237196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CO2 emessa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46919" y="8906963"/>
            <a:ext cx="98131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15553" y="2158717"/>
            <a:ext cx="283919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82.900 kg/anno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89493" y="3012983"/>
            <a:ext cx="287416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291.200 €/anno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06785" y="5209816"/>
            <a:ext cx="273441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26200 kg/anno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57997" y="6013082"/>
            <a:ext cx="2649141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58.240 €/anno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3535" y="8172875"/>
            <a:ext cx="2966085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23.100 kg/anno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73015" y="8906963"/>
            <a:ext cx="272426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51.400 €/anno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46590" y="2158717"/>
            <a:ext cx="283919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82.900 kg/anno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29102" y="3012983"/>
            <a:ext cx="287416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291.200 €/anno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50472" y="5209816"/>
            <a:ext cx="273441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26200 kg/anno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93111" y="6013082"/>
            <a:ext cx="2649141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191916"/>
                </a:solidFill>
                <a:latin typeface="Open Sans"/>
                <a:ea typeface="Open Sans"/>
                <a:cs typeface="Open Sans"/>
                <a:sym typeface="Open Sans"/>
              </a:rPr>
              <a:t>58.240 €/anno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43212" y="8172875"/>
            <a:ext cx="2966085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20.050 kg/anno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64120" y="8906963"/>
            <a:ext cx="272426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919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44.500 €/anno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9772" y="2436065"/>
            <a:ext cx="435964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Le aziende non utilizzano Mobility Management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0641" y="5342254"/>
            <a:ext cx="435964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Mobility Management aziendale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7566" y="8420100"/>
            <a:ext cx="435964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Mobility Management integrata tra le aziende con </a:t>
            </a:r>
            <a:r>
              <a:rPr lang="en-US" b="true" sz="3000" spc="12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BridgIT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82305" y="301292"/>
            <a:ext cx="3239453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DIFFERENZA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6308400" y="2975236"/>
            <a:ext cx="656257" cy="634928"/>
          </a:xfrm>
          <a:custGeom>
            <a:avLst/>
            <a:gdLst/>
            <a:ahLst/>
            <a:cxnLst/>
            <a:rect r="r" b="b" t="t" l="l"/>
            <a:pathLst>
              <a:path h="634928" w="656257">
                <a:moveTo>
                  <a:pt x="0" y="0"/>
                </a:moveTo>
                <a:lnTo>
                  <a:pt x="656257" y="0"/>
                </a:lnTo>
                <a:lnTo>
                  <a:pt x="656257" y="634929"/>
                </a:lnTo>
                <a:lnTo>
                  <a:pt x="0" y="63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969639" y="5209816"/>
            <a:ext cx="31910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-113.400 kg/anno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99450" y="8172875"/>
            <a:ext cx="320516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67BA8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-122612 kg/anno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098717" y="8906963"/>
            <a:ext cx="307562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67BA8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-486.424 €/anno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01620" y="6013082"/>
            <a:ext cx="3000821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-465.992 €/anno</a:t>
            </a:r>
          </a:p>
        </p:txBody>
      </p:sp>
      <p:sp>
        <p:nvSpPr>
          <p:cNvPr name="AutoShape 36" id="36"/>
          <p:cNvSpPr/>
          <p:nvPr/>
        </p:nvSpPr>
        <p:spPr>
          <a:xfrm>
            <a:off x="-64822" y="1373929"/>
            <a:ext cx="19382798" cy="0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-547399" y="4320130"/>
            <a:ext cx="19382798" cy="0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-547399" y="7324881"/>
            <a:ext cx="19382798" cy="0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H="true">
            <a:off x="4853705" y="1359661"/>
            <a:ext cx="14287" cy="10381443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H="true">
            <a:off x="7902929" y="1388236"/>
            <a:ext cx="14287" cy="10381443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11435494" y="1388236"/>
            <a:ext cx="14288" cy="10381443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H="true">
            <a:off x="14811181" y="1359661"/>
            <a:ext cx="14287" cy="10381443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0554" y="3223830"/>
            <a:ext cx="4481710" cy="4899070"/>
            <a:chOff x="0" y="0"/>
            <a:chExt cx="812800" cy="888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88492"/>
            </a:xfrm>
            <a:custGeom>
              <a:avLst/>
              <a:gdLst/>
              <a:ahLst/>
              <a:cxnLst/>
              <a:rect r="r" b="b" t="t" l="l"/>
              <a:pathLst>
                <a:path h="888492" w="812800">
                  <a:moveTo>
                    <a:pt x="406400" y="0"/>
                  </a:moveTo>
                  <a:cubicBezTo>
                    <a:pt x="181951" y="0"/>
                    <a:pt x="0" y="198896"/>
                    <a:pt x="0" y="444246"/>
                  </a:cubicBezTo>
                  <a:cubicBezTo>
                    <a:pt x="0" y="689596"/>
                    <a:pt x="181951" y="888492"/>
                    <a:pt x="406400" y="888492"/>
                  </a:cubicBezTo>
                  <a:cubicBezTo>
                    <a:pt x="630849" y="888492"/>
                    <a:pt x="812800" y="689596"/>
                    <a:pt x="812800" y="444246"/>
                  </a:cubicBezTo>
                  <a:cubicBezTo>
                    <a:pt x="812800" y="19889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AEA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5196"/>
              <a:ext cx="660400" cy="760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4986" y="3922305"/>
            <a:ext cx="3812844" cy="4104115"/>
            <a:chOff x="0" y="0"/>
            <a:chExt cx="812800" cy="8748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74891"/>
            </a:xfrm>
            <a:custGeom>
              <a:avLst/>
              <a:gdLst/>
              <a:ahLst/>
              <a:cxnLst/>
              <a:rect r="r" b="b" t="t" l="l"/>
              <a:pathLst>
                <a:path h="874891" w="812800">
                  <a:moveTo>
                    <a:pt x="406400" y="0"/>
                  </a:moveTo>
                  <a:cubicBezTo>
                    <a:pt x="181951" y="0"/>
                    <a:pt x="0" y="195851"/>
                    <a:pt x="0" y="437446"/>
                  </a:cubicBezTo>
                  <a:cubicBezTo>
                    <a:pt x="0" y="679040"/>
                    <a:pt x="181951" y="874891"/>
                    <a:pt x="406400" y="874891"/>
                  </a:cubicBezTo>
                  <a:cubicBezTo>
                    <a:pt x="630849" y="874891"/>
                    <a:pt x="812800" y="679040"/>
                    <a:pt x="812800" y="437446"/>
                  </a:cubicBezTo>
                  <a:cubicBezTo>
                    <a:pt x="812800" y="1958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887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3921"/>
              <a:ext cx="660400" cy="74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1480" y="4762423"/>
            <a:ext cx="3139857" cy="313985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634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5400000">
            <a:off x="3790070" y="5129212"/>
            <a:ext cx="10703767" cy="0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-219563" y="1670195"/>
            <a:ext cx="19382798" cy="0"/>
          </a:xfrm>
          <a:prstGeom prst="line">
            <a:avLst/>
          </a:prstGeom>
          <a:ln cap="rnd" w="28575">
            <a:solidFill>
              <a:srgbClr val="936F5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2540800" y="-137968"/>
            <a:ext cx="3914061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Market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86868" y="-137968"/>
            <a:ext cx="7072432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Competitors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35650" y="2741189"/>
            <a:ext cx="392677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Il fatturato dello shared mobility in Italia</a:t>
            </a:r>
          </a:p>
          <a:p>
            <a:pPr algn="ctr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nel 2021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0602" y="3436530"/>
            <a:ext cx="199403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10" b="true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TAM - 330M€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88183" y="4224663"/>
            <a:ext cx="199985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10" b="true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SAM - 232M€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2075" y="5936140"/>
            <a:ext cx="152558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spc="10" b="true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SOM - 300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35650" y="4842822"/>
            <a:ext cx="392677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Il fatturato del car sharing aziendale in Italia nel 2021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35650" y="6947847"/>
            <a:ext cx="392677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12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Le aziende che hanno utilizzato un mobility manager nel 2021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10066878" y="2498911"/>
          <a:ext cx="7192422" cy="6276975"/>
        </p:xfrm>
        <a:graphic>
          <a:graphicData uri="http://schemas.openxmlformats.org/drawingml/2006/table">
            <a:tbl>
              <a:tblPr/>
              <a:tblGrid>
                <a:gridCol w="1457306"/>
                <a:gridCol w="1896335"/>
                <a:gridCol w="1911149"/>
                <a:gridCol w="1927633"/>
              </a:tblGrid>
              <a:tr h="11499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Gestione integrata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Integrazione Verticale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Integrazione Orizzontale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3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BridgIT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3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LEN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3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JoJob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3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BePooler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3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Up2Go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2" id="22"/>
          <p:cNvSpPr/>
          <p:nvPr/>
        </p:nvSpPr>
        <p:spPr>
          <a:xfrm flipH="false" flipV="false" rot="0">
            <a:off x="14103156" y="6938629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207023" y="7981818"/>
            <a:ext cx="571486" cy="572466"/>
          </a:xfrm>
          <a:custGeom>
            <a:avLst/>
            <a:gdLst/>
            <a:ahLst/>
            <a:cxnLst/>
            <a:rect r="r" b="b" t="t" l="l"/>
            <a:pathLst>
              <a:path h="572466" w="571486">
                <a:moveTo>
                  <a:pt x="0" y="0"/>
                </a:moveTo>
                <a:lnTo>
                  <a:pt x="571486" y="0"/>
                </a:lnTo>
                <a:lnTo>
                  <a:pt x="571486" y="572466"/>
                </a:lnTo>
                <a:lnTo>
                  <a:pt x="0" y="5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" t="0" r="-1923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207023" y="6959304"/>
            <a:ext cx="571486" cy="572466"/>
          </a:xfrm>
          <a:custGeom>
            <a:avLst/>
            <a:gdLst/>
            <a:ahLst/>
            <a:cxnLst/>
            <a:rect r="r" b="b" t="t" l="l"/>
            <a:pathLst>
              <a:path h="572466" w="571486">
                <a:moveTo>
                  <a:pt x="0" y="0"/>
                </a:moveTo>
                <a:lnTo>
                  <a:pt x="571486" y="0"/>
                </a:lnTo>
                <a:lnTo>
                  <a:pt x="571486" y="572466"/>
                </a:lnTo>
                <a:lnTo>
                  <a:pt x="0" y="5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" t="0" r="-1923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207023" y="5939163"/>
            <a:ext cx="571486" cy="572466"/>
          </a:xfrm>
          <a:custGeom>
            <a:avLst/>
            <a:gdLst/>
            <a:ahLst/>
            <a:cxnLst/>
            <a:rect r="r" b="b" t="t" l="l"/>
            <a:pathLst>
              <a:path h="572466" w="571486">
                <a:moveTo>
                  <a:pt x="0" y="0"/>
                </a:moveTo>
                <a:lnTo>
                  <a:pt x="571486" y="0"/>
                </a:lnTo>
                <a:lnTo>
                  <a:pt x="571486" y="572466"/>
                </a:lnTo>
                <a:lnTo>
                  <a:pt x="0" y="5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" t="0" r="-1923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997959" y="7981818"/>
            <a:ext cx="571486" cy="572466"/>
          </a:xfrm>
          <a:custGeom>
            <a:avLst/>
            <a:gdLst/>
            <a:ahLst/>
            <a:cxnLst/>
            <a:rect r="r" b="b" t="t" l="l"/>
            <a:pathLst>
              <a:path h="572466" w="571486">
                <a:moveTo>
                  <a:pt x="0" y="0"/>
                </a:moveTo>
                <a:lnTo>
                  <a:pt x="571486" y="0"/>
                </a:lnTo>
                <a:lnTo>
                  <a:pt x="571486" y="572466"/>
                </a:lnTo>
                <a:lnTo>
                  <a:pt x="0" y="5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" t="0" r="-1923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997959" y="6959304"/>
            <a:ext cx="571486" cy="572466"/>
          </a:xfrm>
          <a:custGeom>
            <a:avLst/>
            <a:gdLst/>
            <a:ahLst/>
            <a:cxnLst/>
            <a:rect r="r" b="b" t="t" l="l"/>
            <a:pathLst>
              <a:path h="572466" w="571486">
                <a:moveTo>
                  <a:pt x="0" y="0"/>
                </a:moveTo>
                <a:lnTo>
                  <a:pt x="571486" y="0"/>
                </a:lnTo>
                <a:lnTo>
                  <a:pt x="571486" y="572466"/>
                </a:lnTo>
                <a:lnTo>
                  <a:pt x="0" y="5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" t="0" r="-1923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997959" y="5939163"/>
            <a:ext cx="571486" cy="572466"/>
          </a:xfrm>
          <a:custGeom>
            <a:avLst/>
            <a:gdLst/>
            <a:ahLst/>
            <a:cxnLst/>
            <a:rect r="r" b="b" t="t" l="l"/>
            <a:pathLst>
              <a:path h="572466" w="571486">
                <a:moveTo>
                  <a:pt x="0" y="0"/>
                </a:moveTo>
                <a:lnTo>
                  <a:pt x="571486" y="0"/>
                </a:lnTo>
                <a:lnTo>
                  <a:pt x="571486" y="572466"/>
                </a:lnTo>
                <a:lnTo>
                  <a:pt x="0" y="5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" t="0" r="-1923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997959" y="4919022"/>
            <a:ext cx="571486" cy="572466"/>
          </a:xfrm>
          <a:custGeom>
            <a:avLst/>
            <a:gdLst/>
            <a:ahLst/>
            <a:cxnLst/>
            <a:rect r="r" b="b" t="t" l="l"/>
            <a:pathLst>
              <a:path h="572466" w="571486">
                <a:moveTo>
                  <a:pt x="0" y="0"/>
                </a:moveTo>
                <a:lnTo>
                  <a:pt x="571486" y="0"/>
                </a:lnTo>
                <a:lnTo>
                  <a:pt x="571486" y="572466"/>
                </a:lnTo>
                <a:lnTo>
                  <a:pt x="0" y="5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" t="0" r="-1923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103156" y="7981818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103156" y="5925320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103156" y="4908684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209024" y="4908684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103156" y="3896443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209024" y="3896443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997288" y="3896443"/>
            <a:ext cx="570157" cy="593141"/>
          </a:xfrm>
          <a:custGeom>
            <a:avLst/>
            <a:gdLst/>
            <a:ahLst/>
            <a:cxnLst/>
            <a:rect r="r" b="b" t="t" l="l"/>
            <a:pathLst>
              <a:path h="593141" w="570157">
                <a:moveTo>
                  <a:pt x="0" y="0"/>
                </a:moveTo>
                <a:lnTo>
                  <a:pt x="570157" y="0"/>
                </a:lnTo>
                <a:lnTo>
                  <a:pt x="570157" y="593141"/>
                </a:lnTo>
                <a:lnTo>
                  <a:pt x="0" y="593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38446" y="-2389613"/>
            <a:ext cx="8370405" cy="4779226"/>
          </a:xfrm>
          <a:custGeom>
            <a:avLst/>
            <a:gdLst/>
            <a:ahLst/>
            <a:cxnLst/>
            <a:rect r="r" b="b" t="t" l="l"/>
            <a:pathLst>
              <a:path h="4779226" w="8370405">
                <a:moveTo>
                  <a:pt x="0" y="0"/>
                </a:moveTo>
                <a:lnTo>
                  <a:pt x="8370405" y="0"/>
                </a:lnTo>
                <a:lnTo>
                  <a:pt x="8370405" y="4779226"/>
                </a:lnTo>
                <a:lnTo>
                  <a:pt x="0" y="4779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6030186" y="3303195"/>
            <a:ext cx="0" cy="3247059"/>
          </a:xfrm>
          <a:prstGeom prst="line">
            <a:avLst/>
          </a:prstGeom>
          <a:ln cap="rnd" w="76200">
            <a:solidFill>
              <a:srgbClr val="19191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1862203" y="3303195"/>
            <a:ext cx="0" cy="3247059"/>
          </a:xfrm>
          <a:prstGeom prst="line">
            <a:avLst/>
          </a:prstGeom>
          <a:ln cap="rnd" w="76200">
            <a:solidFill>
              <a:srgbClr val="19191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14311" y="7170323"/>
            <a:ext cx="4216374" cy="1686549"/>
          </a:xfrm>
          <a:custGeom>
            <a:avLst/>
            <a:gdLst/>
            <a:ahLst/>
            <a:cxnLst/>
            <a:rect r="r" b="b" t="t" l="l"/>
            <a:pathLst>
              <a:path h="1686549" w="4216374">
                <a:moveTo>
                  <a:pt x="0" y="0"/>
                </a:moveTo>
                <a:lnTo>
                  <a:pt x="4216373" y="0"/>
                </a:lnTo>
                <a:lnTo>
                  <a:pt x="4216373" y="1686550"/>
                </a:lnTo>
                <a:lnTo>
                  <a:pt x="0" y="1686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42940" y="7132890"/>
            <a:ext cx="4602120" cy="1712312"/>
          </a:xfrm>
          <a:custGeom>
            <a:avLst/>
            <a:gdLst/>
            <a:ahLst/>
            <a:cxnLst/>
            <a:rect r="r" b="b" t="t" l="l"/>
            <a:pathLst>
              <a:path h="1712312" w="4602120">
                <a:moveTo>
                  <a:pt x="0" y="0"/>
                </a:moveTo>
                <a:lnTo>
                  <a:pt x="4602120" y="0"/>
                </a:lnTo>
                <a:lnTo>
                  <a:pt x="4602120" y="1712312"/>
                </a:lnTo>
                <a:lnTo>
                  <a:pt x="0" y="17123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16525" y="7437616"/>
            <a:ext cx="3318985" cy="1151964"/>
          </a:xfrm>
          <a:custGeom>
            <a:avLst/>
            <a:gdLst/>
            <a:ahLst/>
            <a:cxnLst/>
            <a:rect r="r" b="b" t="t" l="l"/>
            <a:pathLst>
              <a:path h="1151964" w="3318985">
                <a:moveTo>
                  <a:pt x="0" y="0"/>
                </a:moveTo>
                <a:lnTo>
                  <a:pt x="3318984" y="0"/>
                </a:lnTo>
                <a:lnTo>
                  <a:pt x="3318984" y="1151964"/>
                </a:lnTo>
                <a:lnTo>
                  <a:pt x="0" y="11519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14311" y="613969"/>
            <a:ext cx="9483194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Business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506" y="3629419"/>
            <a:ext cx="3775343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4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Fee iniziale associata all’inizio delle attività di consulenza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58523" y="3948507"/>
            <a:ext cx="3775343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4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Fee associate ad un abbonamento annuale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0540" y="3629419"/>
            <a:ext cx="4170955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4">
                <a:solidFill>
                  <a:srgbClr val="191916"/>
                </a:solidFill>
                <a:latin typeface="Barlow"/>
                <a:ea typeface="Barlow"/>
                <a:cs typeface="Barlow"/>
                <a:sym typeface="Barlow"/>
              </a:rPr>
              <a:t>Fee provenienti dalle partnership con aziende di vehicle sharing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7929" y="600075"/>
            <a:ext cx="6881239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Roadmap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67260" y="3348315"/>
            <a:ext cx="9988971" cy="1599961"/>
            <a:chOff x="0" y="0"/>
            <a:chExt cx="13318627" cy="213328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479019"/>
              <a:ext cx="13318627" cy="65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 spc="11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Q1</a:t>
              </a:r>
              <a:r>
                <a:rPr lang="en-US" sz="2899" spc="11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 2024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5952" y="0"/>
              <a:ext cx="13262675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Assunzione dei mobility manager e implementazione dell’infrastruttura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67260" y="5565341"/>
            <a:ext cx="10293634" cy="1066561"/>
            <a:chOff x="0" y="0"/>
            <a:chExt cx="13724845" cy="142208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67819"/>
              <a:ext cx="13724845" cy="65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 spc="11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Q3</a:t>
              </a:r>
              <a:r>
                <a:rPr lang="en-US" sz="2899" spc="11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 2024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7659" y="0"/>
              <a:ext cx="13667187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Progetto pilota con un early adopter per validazione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67260" y="7573928"/>
            <a:ext cx="9988971" cy="1066561"/>
            <a:chOff x="0" y="0"/>
            <a:chExt cx="13318627" cy="142208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67819"/>
              <a:ext cx="13318627" cy="65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 spc="11">
                  <a:solidFill>
                    <a:srgbClr val="19191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Q1</a:t>
              </a:r>
              <a:r>
                <a:rPr lang="en-US" sz="2899" spc="11">
                  <a:solidFill>
                    <a:srgbClr val="191916"/>
                  </a:solidFill>
                  <a:latin typeface="Barlow"/>
                  <a:ea typeface="Barlow"/>
                  <a:cs typeface="Barlow"/>
                  <a:sym typeface="Barlow"/>
                </a:rPr>
                <a:t> 2025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5952" y="0"/>
              <a:ext cx="13262675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Lancio ufficiale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3327106" y="3446067"/>
            <a:ext cx="442745" cy="383458"/>
            <a:chOff x="0" y="0"/>
            <a:chExt cx="6202680" cy="5372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191916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5400000">
            <a:off x="3115943" y="4555789"/>
            <a:ext cx="865071" cy="89453"/>
          </a:xfrm>
          <a:custGeom>
            <a:avLst/>
            <a:gdLst/>
            <a:ahLst/>
            <a:cxnLst/>
            <a:rect r="r" b="b" t="t" l="l"/>
            <a:pathLst>
              <a:path h="89453" w="865071">
                <a:moveTo>
                  <a:pt x="0" y="0"/>
                </a:moveTo>
                <a:lnTo>
                  <a:pt x="865071" y="0"/>
                </a:lnTo>
                <a:lnTo>
                  <a:pt x="865071" y="89453"/>
                </a:lnTo>
                <a:lnTo>
                  <a:pt x="0" y="89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2314" t="0" r="-41479" b="-1140944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0800000">
            <a:off x="3327106" y="5663094"/>
            <a:ext cx="442745" cy="383458"/>
            <a:chOff x="0" y="0"/>
            <a:chExt cx="6202680" cy="5372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191916"/>
            </a:solidFill>
          </p:spPr>
        </p:sp>
      </p:grpSp>
      <p:sp>
        <p:nvSpPr>
          <p:cNvPr name="AutoShape 17" id="17"/>
          <p:cNvSpPr/>
          <p:nvPr/>
        </p:nvSpPr>
        <p:spPr>
          <a:xfrm flipV="true">
            <a:off x="3548478" y="6385006"/>
            <a:ext cx="0" cy="865071"/>
          </a:xfrm>
          <a:prstGeom prst="line">
            <a:avLst/>
          </a:prstGeom>
          <a:ln cap="rnd" w="76200">
            <a:solidFill>
              <a:srgbClr val="19191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5245261" y="1028700"/>
            <a:ext cx="1070895" cy="1070895"/>
          </a:xfrm>
          <a:custGeom>
            <a:avLst/>
            <a:gdLst/>
            <a:ahLst/>
            <a:cxnLst/>
            <a:rect r="r" b="b" t="t" l="l"/>
            <a:pathLst>
              <a:path h="1070895" w="1070895">
                <a:moveTo>
                  <a:pt x="0" y="0"/>
                </a:moveTo>
                <a:lnTo>
                  <a:pt x="1070895" y="0"/>
                </a:lnTo>
                <a:lnTo>
                  <a:pt x="1070895" y="1070895"/>
                </a:lnTo>
                <a:lnTo>
                  <a:pt x="0" y="1070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954068" y="2143303"/>
            <a:ext cx="3653280" cy="53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2914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Bridgit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54068" y="2712212"/>
            <a:ext cx="3653280" cy="16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"/>
              </a:lnSpc>
            </a:pPr>
            <a:r>
              <a:rPr lang="en-US" sz="1011" spc="4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 Sharing Mobility</a:t>
            </a:r>
          </a:p>
        </p:txBody>
      </p:sp>
      <p:grpSp>
        <p:nvGrpSpPr>
          <p:cNvPr name="Group 21" id="21"/>
          <p:cNvGrpSpPr/>
          <p:nvPr/>
        </p:nvGrpSpPr>
        <p:grpSpPr>
          <a:xfrm rot="-10800000">
            <a:off x="3327106" y="7671316"/>
            <a:ext cx="442745" cy="383458"/>
            <a:chOff x="0" y="0"/>
            <a:chExt cx="6202680" cy="5372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191916"/>
            </a:solidFill>
          </p:spPr>
        </p:sp>
      </p:grpSp>
      <p:sp>
        <p:nvSpPr>
          <p:cNvPr name="AutoShape 23" id="23"/>
          <p:cNvSpPr/>
          <p:nvPr/>
        </p:nvSpPr>
        <p:spPr>
          <a:xfrm flipV="true">
            <a:off x="3548478" y="8393229"/>
            <a:ext cx="0" cy="865071"/>
          </a:xfrm>
          <a:prstGeom prst="line">
            <a:avLst/>
          </a:prstGeom>
          <a:ln cap="rnd" w="76200">
            <a:solidFill>
              <a:srgbClr val="191916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421266" y="3712294"/>
            <a:ext cx="2703989" cy="2341533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547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28700" y="3712294"/>
            <a:ext cx="2703989" cy="2341533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0" t="-7739" r="0" b="-773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792005" y="3712294"/>
            <a:ext cx="2703989" cy="2341533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0" t="-26065" r="0" b="-47153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162745" y="3712294"/>
            <a:ext cx="2703989" cy="2341533"/>
            <a:chOff x="0" y="0"/>
            <a:chExt cx="4282440" cy="370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0" t="-9247" r="0" b="-52828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533484" y="3712294"/>
            <a:ext cx="2703989" cy="2341533"/>
            <a:chOff x="0" y="0"/>
            <a:chExt cx="4282440" cy="370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0" t="-12927" r="0" b="-4104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69827" y="6524750"/>
            <a:ext cx="3406867" cy="1533921"/>
            <a:chOff x="0" y="0"/>
            <a:chExt cx="4542489" cy="204522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88544"/>
              <a:ext cx="4542489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9">
                  <a:solidFill>
                    <a:srgbClr val="4A3729"/>
                  </a:solidFill>
                  <a:latin typeface="Barlow"/>
                  <a:ea typeface="Barlow"/>
                  <a:cs typeface="Barlow"/>
                  <a:sym typeface="Barlow"/>
                </a:rPr>
                <a:t>Digital Health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083" y="0"/>
              <a:ext cx="4523406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Anthony Belgianni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78272" y="570883"/>
            <a:ext cx="11131456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191916"/>
                </a:solidFill>
                <a:latin typeface="Barlow Bold"/>
                <a:ea typeface="Barlow Bold"/>
                <a:cs typeface="Barlow Bold"/>
                <a:sym typeface="Barlow Bold"/>
              </a:rPr>
              <a:t>Team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440566" y="6524750"/>
            <a:ext cx="3406867" cy="1533921"/>
            <a:chOff x="0" y="0"/>
            <a:chExt cx="4542489" cy="204522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88544"/>
              <a:ext cx="4542489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9">
                  <a:solidFill>
                    <a:srgbClr val="4A3729"/>
                  </a:solidFill>
                  <a:latin typeface="Barlow"/>
                  <a:ea typeface="Barlow"/>
                  <a:cs typeface="Barlow"/>
                  <a:sym typeface="Barlow"/>
                </a:rPr>
                <a:t>Ing. Informatica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083" y="0"/>
              <a:ext cx="4523406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Rocco Gerardo Pizzulo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0652" y="6524750"/>
            <a:ext cx="3406867" cy="1533921"/>
            <a:chOff x="0" y="0"/>
            <a:chExt cx="4542489" cy="2045228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1488544"/>
              <a:ext cx="4542489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9">
                  <a:solidFill>
                    <a:srgbClr val="4A3729"/>
                  </a:solidFill>
                  <a:latin typeface="Barlow"/>
                  <a:ea typeface="Barlow"/>
                  <a:cs typeface="Barlow"/>
                  <a:sym typeface="Barlow"/>
                </a:rPr>
                <a:t>Ing. Gestionale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9083" y="0"/>
              <a:ext cx="4523406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500" b="true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Domenico </a:t>
              </a:r>
            </a:p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Pierri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11306" y="6524750"/>
            <a:ext cx="3406867" cy="1533921"/>
            <a:chOff x="0" y="0"/>
            <a:chExt cx="4542489" cy="2045228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488544"/>
              <a:ext cx="4542489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9">
                  <a:solidFill>
                    <a:srgbClr val="4A3729"/>
                  </a:solidFill>
                  <a:latin typeface="Barlow"/>
                  <a:ea typeface="Barlow"/>
                  <a:cs typeface="Barlow"/>
                  <a:sym typeface="Barlow"/>
                </a:rPr>
                <a:t>Ing. Informatica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9083" y="0"/>
              <a:ext cx="4523406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Giuseppe Marcone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218173" y="6524750"/>
            <a:ext cx="3406867" cy="1533921"/>
            <a:chOff x="0" y="0"/>
            <a:chExt cx="4542489" cy="2045228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1488544"/>
              <a:ext cx="4542489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9">
                  <a:solidFill>
                    <a:srgbClr val="4A3729"/>
                  </a:solidFill>
                  <a:latin typeface="Barlow"/>
                  <a:ea typeface="Barlow"/>
                  <a:cs typeface="Barlow"/>
                  <a:sym typeface="Barlow"/>
                </a:rPr>
                <a:t>Ing. Informatica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083" y="0"/>
              <a:ext cx="4523406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191916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Giuseppe Marotta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DAFz8WdtU3Y</dc:identifier>
  <dcterms:modified xsi:type="dcterms:W3CDTF">2011-08-01T06:04:30Z</dcterms:modified>
  <cp:revision>1</cp:revision>
  <dc:title>BRIDGiT</dc:title>
</cp:coreProperties>
</file>